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8c18e26ac64d5e" /><Relationship Type="http://schemas.openxmlformats.org/officeDocument/2006/relationships/extended-properties" Target="/docProps/app.xml" Id="Rd9d512be7d6c4bab" /><Relationship Type="http://schemas.openxmlformats.org/officeDocument/2006/relationships/officeDocument" Target="/ppt/presentation.xml" Id="R6eba2a77fbf9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f14fa96c674c96"/>
  </p:sldMasterIdLst>
  <p:notesMasterIdLst>
    <p:notesMasterId xmlns:r="http://schemas.openxmlformats.org/officeDocument/2006/relationships" r:id="R2ef4b0c146f14955"/>
  </p:notesMasterIdLst>
  <p:sldIdLst>
    <p:sldId xmlns:r="http://schemas.openxmlformats.org/officeDocument/2006/relationships" id="256" r:id="Rc8f2a79696d64d29"/>
    <p:sldId xmlns:r="http://schemas.openxmlformats.org/officeDocument/2006/relationships" id="257" r:id="R2aeebffa4a034cf0"/>
    <p:sldId xmlns:r="http://schemas.openxmlformats.org/officeDocument/2006/relationships" id="258" r:id="R9a0d022423414a02"/>
    <p:sldId xmlns:r="http://schemas.openxmlformats.org/officeDocument/2006/relationships" id="259" r:id="Rf1718cf3131e4cf8"/>
    <p:sldId xmlns:r="http://schemas.openxmlformats.org/officeDocument/2006/relationships" id="260" r:id="R25108df42573459b"/>
    <p:sldId xmlns:r="http://schemas.openxmlformats.org/officeDocument/2006/relationships" id="261" r:id="R577b4c629e854566"/>
    <p:sldId xmlns:r="http://schemas.openxmlformats.org/officeDocument/2006/relationships" id="262" r:id="Re0b02b6d018646b4"/>
    <p:sldId xmlns:r="http://schemas.openxmlformats.org/officeDocument/2006/relationships" id="263" r:id="Rd201117c7b7247ef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1b79fd733443c" /><Relationship Type="http://schemas.openxmlformats.org/officeDocument/2006/relationships/slideMaster" Target="/ppt/slideMasters/slideMaster1.xml" Id="Rd2f14fa96c674c96" /><Relationship Type="http://schemas.openxmlformats.org/officeDocument/2006/relationships/notesMaster" Target="/ppt/notesMasters/notesMaster1.xml" Id="R2ef4b0c146f14955" /><Relationship Type="http://schemas.openxmlformats.org/officeDocument/2006/relationships/presProps" Target="/ppt/presProps.xml" Id="Raba5d8c304874f00" /><Relationship Type="http://schemas.openxmlformats.org/officeDocument/2006/relationships/tableStyles" Target="/ppt/tableStyles.xml" Id="R1b174a09521d4f2e" /><Relationship Type="http://schemas.openxmlformats.org/officeDocument/2006/relationships/slide" Target="/ppt/slides/slide1.xml" Id="Rc8f2a79696d64d29" /><Relationship Type="http://schemas.openxmlformats.org/officeDocument/2006/relationships/slide" Target="/ppt/slides/slide2.xml" Id="R2aeebffa4a034cf0" /><Relationship Type="http://schemas.openxmlformats.org/officeDocument/2006/relationships/slide" Target="/ppt/slides/slide3.xml" Id="R9a0d022423414a02" /><Relationship Type="http://schemas.openxmlformats.org/officeDocument/2006/relationships/slide" Target="/ppt/slides/slide4.xml" Id="Rf1718cf3131e4cf8" /><Relationship Type="http://schemas.openxmlformats.org/officeDocument/2006/relationships/slide" Target="/ppt/slides/slide5.xml" Id="R25108df42573459b" /><Relationship Type="http://schemas.openxmlformats.org/officeDocument/2006/relationships/slide" Target="/ppt/slides/slide6.xml" Id="R577b4c629e854566" /><Relationship Type="http://schemas.openxmlformats.org/officeDocument/2006/relationships/slide" Target="/ppt/slides/slide7.xml" Id="Re0b02b6d018646b4" /><Relationship Type="http://schemas.openxmlformats.org/officeDocument/2006/relationships/slide" Target="/ppt/slides/slide8.xml" Id="Rd201117c7b72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278172901f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1f5e891014537" /><Relationship Type="http://schemas.openxmlformats.org/officeDocument/2006/relationships/notesMaster" Target="/ppt/notesMasters/notesMaster1.xml" Id="Ra7dd1200c4c541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d94032300042bb" /><Relationship Type="http://schemas.openxmlformats.org/officeDocument/2006/relationships/notesMaster" Target="/ppt/notesMasters/notesMaster1.xml" Id="R55f084707455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c760ca13b345e9" /><Relationship Type="http://schemas.openxmlformats.org/officeDocument/2006/relationships/notesMaster" Target="/ppt/notesMasters/notesMaster1.xml" Id="R8b36ddcbb824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2a7fc99f694bdb" /><Relationship Type="http://schemas.openxmlformats.org/officeDocument/2006/relationships/notesMaster" Target="/ppt/notesMasters/notesMaster1.xml" Id="Rba2ec2e418394c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6c597ee044cf6" /><Relationship Type="http://schemas.openxmlformats.org/officeDocument/2006/relationships/notesMaster" Target="/ppt/notesMasters/notesMaster1.xml" Id="R6f428dec1549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bf2edee4346eb" /><Relationship Type="http://schemas.openxmlformats.org/officeDocument/2006/relationships/notesMaster" Target="/ppt/notesMasters/notesMaster1.xml" Id="R75e8260a4c7745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66b4199dc647f6" /><Relationship Type="http://schemas.openxmlformats.org/officeDocument/2006/relationships/notesMaster" Target="/ppt/notesMasters/notesMaster1.xml" Id="Re35a982fb14a4d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6fa32538ff42f4" /><Relationship Type="http://schemas.openxmlformats.org/officeDocument/2006/relationships/notesMaster" Target="/ppt/notesMasters/notesMaster1.xml" Id="R68fb2f5b7bff48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4a3ccf520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46889203f491a" /><Relationship Type="http://schemas.openxmlformats.org/officeDocument/2006/relationships/slideLayout" Target="/ppt/slideLayouts/slideLayout1.xml" Id="R731955f0236442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955f0236442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fcb939c56473e" /><Relationship Type="http://schemas.openxmlformats.org/officeDocument/2006/relationships/notesSlide" Target="/ppt/notesSlides/notesSlide1.xml" Id="Redf051c368aa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fb90884c24695" /><Relationship Type="http://schemas.openxmlformats.org/officeDocument/2006/relationships/notesSlide" Target="/ppt/notesSlides/notesSlide2.xml" Id="Rb8863c2877dc44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09e9a04d040f2" /><Relationship Type="http://schemas.openxmlformats.org/officeDocument/2006/relationships/notesSlide" Target="/ppt/notesSlides/notesSlide3.xml" Id="Ra1d6f2eeea85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10a03c575480b" /><Relationship Type="http://schemas.openxmlformats.org/officeDocument/2006/relationships/notesSlide" Target="/ppt/notesSlides/notesSlide4.xml" Id="R25609052d63a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583db61634823" /><Relationship Type="http://schemas.openxmlformats.org/officeDocument/2006/relationships/notesSlide" Target="/ppt/notesSlides/notesSlide5.xml" Id="Rc666e510473a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f7b81f3840e8" /><Relationship Type="http://schemas.openxmlformats.org/officeDocument/2006/relationships/notesSlide" Target="/ppt/notesSlides/notesSlide6.xml" Id="R206f51bb0b1f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ed3652ab94aa5" /><Relationship Type="http://schemas.openxmlformats.org/officeDocument/2006/relationships/notesSlide" Target="/ppt/notesSlides/notesSlide7.xml" Id="R732297edf4cf45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60860b0b4e0c" /><Relationship Type="http://schemas.openxmlformats.org/officeDocument/2006/relationships/notesSlide" Target="/ppt/notesSlides/notesSlide8.xml" Id="R480ff0e3f51e41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E7A7EC-96FF-4AFD-9CF6-6D25BCC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1066800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101B31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0B843-C042-49E5-B555-A7CE944A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3429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33922-0FF3-4820-A985-60162910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AWS SERVERLESS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94E3-B1A5-4BEB-998B-90A234D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790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Cloud-Native Diagnostic Imaging Reconciliation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01A91-DD04-4A6E-BD3B-98F7791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BD5E1"/>
                </a:solidFill>
              </a:defRPr>
            </a:pPr>
            <a:r>
              <a:rPr sz="2325" b="0">
                <a:solidFill>
                  <a:srgbClr val="CBD5E1"/>
                </a:solidFill>
              </a:rPr>
              <a:t>A synthetic-data project connecting healthcare workflow support with event-driven AWS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B02D9-6E5B-41B1-AEAC-F76D0788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00875"/>
            <a:ext cx="7429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23DD2-F10E-47C4-B091-EB74A314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00875"/>
            <a:ext cx="95250" cy="1619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E168C-9EF7-4BFE-8F95-871E0415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1042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Built with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B7B75-9BE4-4E1E-8A0D-A90D0A97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91425"/>
            <a:ext cx="697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API Gateway • Lambda • SQS • S3 • DynamoDB • Step Functions • SNS • CloudWatch • Terraform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128C1-2D13-4B15-B427-DEC2327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No PHI. No workplace data. No internal logs. Built as a privacy-aware portfolio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B6226-C216-4674-A082-28DBA613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887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76249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29004-0DDB-47B1-B7EF-0B5C4141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E33B0-DE14-4139-B383-61DF878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C7046-7465-4212-83FC-439D9F9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One exam. Multiple systems. Different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B0ABC-002C-418F-A2BB-80D2655E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Diagnostic imaging workflows often involve several systems that must agree on exam, report, patient, and acknowledgement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8CE6E-352D-4634-9091-2F69537A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36B6C-9A02-4F77-8C7E-8074D756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3611-6FF7-4D03-AC2E-8AE6CB70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24A14-1EF8-4D9E-A16F-4879A00E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RIS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0AD18-CE15-4B51-8E64-FFC2617C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38625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F404F-FC21-4D08-81E2-25635F3C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481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Order + exam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91C5A-1E82-4E18-97B1-D912A9D8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97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A3FF1-3753-49FD-8B9D-D4A6A545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02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PACS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3D040-6520-4EFE-AD87-5A46192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9725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E6EA2-09B9-4345-A4CB-76DE40D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292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Images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DF914-2C7C-4CC7-A488-6CC9EE9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008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C6024-13B3-4C4E-B344-0AFBD87A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913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C800F-16B8-4254-8CB6-6D856ED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600825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F6EF1-F914-4043-824A-E6CCE52A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103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Draft/final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C5BD2-A888-48EB-872A-1D423849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819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F4EE8-F4EA-44AD-AB84-DE2863D1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724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Downstream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EBF33-7B02-4935-AFCB-36E1CD9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7781925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1094D-5223-4F30-94E4-1290DC52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9914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Distribution + 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77C50-6C18-4CB3-9444-D43B82CB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630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F46DF-32D8-493A-A376-C35FEB4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53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9261F-88D3-43AC-BD42-500E8C8B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963025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68585A-6880-4595-ACB0-B5C1D8AA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1725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Manual investigation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BD535-A551-490D-8378-7AB0C82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55"/>
                </a:solidFill>
              </a:defRPr>
            </a:pPr>
            <a:r>
              <a:rPr sz="1950" b="0">
                <a:solidFill>
                  <a:srgbClr val="334155"/>
                </a:solidFill>
              </a:rPr>
              <a:t>The project models how mismatches can be detected earlier instead of waiting for someone to notice and escalate manually.</a:t>
            </a:r>
          </a:p>
        </p:txBody>
      </p:sp>
    </p:spTree>
    <p:extLst>
      <p:ext uri="{BB962C8B-B14F-4D97-AF65-F5344CB8AC3E}">
        <p14:creationId xmlns:p14="http://schemas.microsoft.com/office/powerpoint/2010/main" val="845186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D4398-0B26-4352-B54F-0DC8BE6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BCE46-CD5C-48B7-8BC0-4EE4AB8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EVENT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4DF62-CA25-4771-9C75-FF399D7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Serverless pipeline from event to incident.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3A2C7-A86D-481C-A7CC-270C555B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Each synthetic event moves through a decoupled AWS workflow with raw archive, state storage, and reconciliation.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196B0-9446-4F3A-B0BD-40F1CFB6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9233A-0C2B-48AA-AE2A-AC95B8E4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3/8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9B814-F21C-42E9-BA92-80BB035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3C414-55A0-4F2E-BC06-7651DD0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2281-999E-408B-9CCD-90F978C1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API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A02A-00D6-4845-9725-FE9E20F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Receives synthetic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D78E5-1C54-4A30-89C5-B55E812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895FA-CD5A-4824-8AAD-7A0819F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47AFF-1758-4F55-BBFE-EC9A671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5C4AD-FE8A-4D70-9366-05AFCCC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Ingest Lambda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41423-6DCE-4AE6-A460-EA69262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910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Validates + normalizes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2D8F9-B62E-4FA2-A01F-966FC49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43DB6-9929-43EF-B783-1C4F7002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6A2D0-7089-4D58-AEA8-C389023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BE9F5-1F16-45E2-BF48-32620D4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S3 + SQS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C3C93-6169-4D0B-8904-91708CD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103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Archives raw JSON + buffers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3A267-5800-4DA4-A3FC-1C99797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7695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50AAE-1613-456E-82AF-D6676F4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1975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E94B8-CA16-4C9B-8FB2-B3F911A5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1975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4AB20-06BA-42BD-9C07-9E1C3F12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829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Processor Lambda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E3EE3-BC16-454D-B9FF-BA3B206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2103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Writes state +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43697-83A7-438B-9D94-39A878AC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07695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41210-327B-4A99-BBF3-F38BB70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25562-56E6-4B76-8F35-E37F0CE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9B90B-3D98-40DC-96C3-83066241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48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DynamoDB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7DF2F-8E7E-4690-8553-784F4798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95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Current state + event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964BB-367B-4D23-88B4-FE7A667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69620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2DBF6-8470-4DFA-B563-DFD06360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23900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798E0-B190-442A-8273-BD4268B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23900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C3F234-06B3-4E72-9332-1C5DAE03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448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Step Functions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830E7F-3619-4926-B0FC-407F55C7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8295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Visible reconciliation workflow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9532E2-A7A1-4997-8091-56A8EC8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696200"/>
            <a:ext cx="3238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FB0A69-6142-4124-A570-6D7362D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0"/>
            <a:ext cx="4000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64C26-75C5-43B0-B95A-39B2274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0"/>
            <a:ext cx="95250" cy="1085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F984D6-2D5C-4A76-9C96-8B0111E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067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Incidents + SNS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054612-8237-4D31-BBB3-A2474812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4488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Flag for human review</a:t>
            </a:r>
          </a:p>
        </p:txBody>
      </p:sp>
    </p:spTree>
    <p:extLst>
      <p:ext uri="{BB962C8B-B14F-4D97-AF65-F5344CB8AC3E}">
        <p14:creationId xmlns:p14="http://schemas.microsoft.com/office/powerpoint/2010/main" val="288948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92644-BE99-49F4-838C-99237B8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2DA3E-8C31-44E3-BD0A-C66A27B5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SERVICES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746BF-4A82-49BF-BDD7-61A27DE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Every AWS service had a specific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2E02-3E39-47BA-ADAF-95AE123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The point was not to use every service. It was to choose services that fit the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1388-CCAF-499E-A889-6CA5E11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69D75-C8F2-4FB3-AF33-CDF8FF4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4/8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1FE64-7FA8-4D94-BADF-27ACA54F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91922-9DD3-45D0-AD2A-04025059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C97AB-9E3D-4E5B-8C06-D463A6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API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21D9E-E5B4-42DA-8890-395676FB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Public ingestion endpoint for synthetic events.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FC631-A974-4021-A4B6-CBD81A7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57625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1F2F5-207A-404B-8094-D01AAD83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57625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C07D2-6EBD-440D-BABE-63DC724A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Lambda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E3A30-ED68-4ABA-A308-381C9642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4817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Validation, normalization, processing, reconciliation.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6D3B1-CC1B-428C-A6C5-181DF5AF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DE8BF-15A4-41C5-8C05-D6D2C87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9616A-38C6-4B8E-970D-946812B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SQS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D4D4A-7982-45BF-A626-914AF36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245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Async buffer and failure isolation.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7A85-1415-40CC-8B84-F94325E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9B028-B007-464B-B4F3-B6CDEA4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AFDFD-458F-438D-BC2A-6995A28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4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E55E8-F770-4BDB-86E6-E7C6F73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245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Low-cost raw event archive.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DD214-56E4-47E4-BBC6-ABDD4656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180DE-0749-4AAF-B6A1-C2BCC4A5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2C83D-CFC3-4C13-A827-9E5DDC2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199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DynamoDB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0BBEA-AD39-4DD7-AEA3-CA72E657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009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Fast state, history, and incident lookup.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78BF7-B54B-4406-BB87-A2D288FB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10375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15250-F327-4888-90F1-4FE7E02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10375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C44C5-ECD5-4503-ABC1-F92EE93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0199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Step Functions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6E0D6-311F-43CF-A5ED-361961C3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009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Visible orchestration and debug path.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FC591C-BDA4-43DC-B3E2-8887693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86750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862F5-6BAE-40A2-AA32-84471B5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86750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8AA9C-26F6-4DA7-B81C-F9C340F6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496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16854A-31E6-4F87-BA85-8DCCDE08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877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High-severity alert path.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BEC00-6B90-4618-92A9-8174D959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86750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F067F3-CB3A-4E3C-99FA-84E93D20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86750"/>
            <a:ext cx="9525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888B46-6542-4041-B199-7D00B97D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496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Terraform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F23A7-31C6-4008-926E-CE213657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877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Repeatable infrastructure as code.</a:t>
            </a:r>
          </a:p>
        </p:txBody>
      </p:sp>
    </p:spTree>
    <p:extLst>
      <p:ext uri="{BB962C8B-B14F-4D97-AF65-F5344CB8AC3E}">
        <p14:creationId xmlns:p14="http://schemas.microsoft.com/office/powerpoint/2010/main" val="41577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F3C4AE-EE4C-49CF-92EE-DC80A1C6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CBC3-A898-4793-8F3A-F3D55E11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RECONCILIATION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C67F6-DF83-4ED3-976D-86497E6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What the platform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8813C-D726-4A89-9EC1-0CB7D52F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Rules compare stored state across systems for the same accession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85BDE-23DF-4AAB-A6FB-343D96C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7AE82-06B4-44AB-875C-01A5004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5/8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FFA35-8D65-444B-84A1-CC0551D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B92D0-3823-493C-BCE8-A0FCECF0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4B4ED-29D5-41FF-8BE0-617E4FA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676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5E1E0-94A3-4268-A6C7-737D164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Blank exam description in reporting while RIS has a valid description.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67F4E-BF86-423C-8C38-029CC68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08C6F-469F-4CE6-AE06-DD05A8CA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E984D-8027-4D4D-B68B-D652BDBF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95900"/>
            <a:ext cx="676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73103-4AD5-4C0B-AA2D-3D67347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73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Report final in reporting system while RIS still shows pending/incomplete.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D71DB-B153-49E8-B71F-0EB848CD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D5400-5971-4306-AA38-C8DE0E3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86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5F407-7534-42CF-92D2-8ED10ADA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96050"/>
            <a:ext cx="676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A7BA8-2B1B-4D4A-A415-7E83BAE0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Patient demographics stale across systems.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2F6B1-1EFC-4103-A839-6968E40F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81985-DEB0-4D8C-9E69-C2918EA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86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7D51C-0800-4B9C-B0FA-0EA2E8B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696200"/>
            <a:ext cx="676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70B3A-D370-4DAB-A111-7DFB21A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67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Downstream acknowledgement missing.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CC635-0889-4BC2-9866-30BA564D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963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79B56-2590-4C50-91C7-C51A5B3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86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EF70D-B7DE-45EA-9243-EE77A705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896350"/>
            <a:ext cx="676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8C145-3EF5-40F9-A0A5-66F8F9E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067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Invalid event missing required fields.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3D66C-2A12-45B9-B825-9BBBEB6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5727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Detected incidents are stored in DynamoDB for review instead of being buried in logs.</a:t>
            </a:r>
          </a:p>
        </p:txBody>
      </p:sp>
    </p:spTree>
    <p:extLst>
      <p:ext uri="{BB962C8B-B14F-4D97-AF65-F5344CB8AC3E}">
        <p14:creationId xmlns:p14="http://schemas.microsoft.com/office/powerpoint/2010/main" val="308715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1D44C-88EA-4803-BDC3-D815AE2C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AE98C-4C27-4BCB-A34E-6CB2C03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FAILURE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441DB-D807-4514-B9E0-7E72721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Designed for investigation, not silent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6400F-71E5-43CE-8FC3-0992664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The platform keeps evidence and gives each failure mode somewhere controlled to 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5F4FE-A0EE-482E-B4E1-78D0A9B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1B9D6-CE20-48AF-9229-DA03AC7D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6/8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E3175-395D-4760-B74C-46BF461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2EAA6-33AA-443E-AB6D-1DECF0B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525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0CB71-8492-4522-B73B-24C7B74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SQS 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992C1-86B7-4A08-8CB9-FD8C766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802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Ingestion is decoupled from processing so traffic spikes do not break the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E39B-CF83-494E-8B57-D7E2A4D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10B98-8D7F-4E9D-B3B0-51D689AB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525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14D3C-1B7A-4377-9EAA-BC2371F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Failed-events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5622A-7820-4636-95A8-AD7BADD0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81675"/>
            <a:ext cx="802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Invalid messages are preserved with validation errors.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124EB-0EBE-4EF0-8A69-903873D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67D92-D723-4D69-B20C-79AD66A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9525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AAC80-8D61-486F-94D0-DE23047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S3 raw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BE462-034F-4235-A180-DCFC85B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67550"/>
            <a:ext cx="802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Original payloads are retained for audit/replay-style investigation.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C163B-E86D-4FE0-9E35-49AD78E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62875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42F78-4AF6-4C64-B833-AD109B36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62875"/>
            <a:ext cx="9525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00DA0-D58C-4F49-A154-BFAE9F18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7242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CloudWatch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C7535-408D-4035-9224-7B1226A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53425"/>
            <a:ext cx="802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Each Lambda emits structured logs for request tracing.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CFCEE-AC96-4F06-BBB2-8DB1B78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48750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18DB2-954A-486C-BDC2-A94D1A3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48750"/>
            <a:ext cx="9525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BA3AA-AF8C-4FDC-BA5A-B577E347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2583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Step 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2D91C-72D1-4C3B-B947-D03B88F0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639300"/>
            <a:ext cx="802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Workflow executions show what ran, succeeded, or failed.</a:t>
            </a:r>
          </a:p>
        </p:txBody>
      </p:sp>
    </p:spTree>
    <p:extLst>
      <p:ext uri="{BB962C8B-B14F-4D97-AF65-F5344CB8AC3E}">
        <p14:creationId xmlns:p14="http://schemas.microsoft.com/office/powerpoint/2010/main" val="728439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79521-9427-4FD0-BF9E-3063E8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71462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A9CEA-B410-4A53-98E5-B57650F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TRADEOFFS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6B7C0-5529-4B92-AB00-FCF516A7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1220"/>
                </a:solidFill>
              </a:defRPr>
            </a:pPr>
            <a:r>
              <a:rPr sz="3675" b="1">
                <a:solidFill>
                  <a:srgbClr val="0B1220"/>
                </a:solidFill>
              </a:rPr>
              <a:t>Architecture decisions I can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BAC68-3A3A-4C79-B1DD-0812EC21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This is the part I would talk through in a cloud/platform interview.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EB937-1268-4142-A4BC-A3674C9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Synthetic data only | AWS serverless portfolio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B1A5D-46B0-4C93-BFB5-0406D569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7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7/8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7413A-24A1-4C61-9603-385D706A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B8A6"/>
                </a:solidFill>
              </a:defRPr>
            </a:pPr>
            <a:r>
              <a:rPr sz="2925" b="1">
                <a:solidFill>
                  <a:srgbClr val="14B8A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45964-61F8-456B-9E5D-43E71C49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SQS over direct Lambda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A4596-594D-4941-9802-C55AD553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053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Decoupling, retry handling, buffering, failure isolation.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B954C-A738-4411-A071-E3DE3295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14900"/>
            <a:ext cx="7429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7AD83-53F6-4934-BAEE-EC6C690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B8A6"/>
                </a:solidFill>
              </a:defRPr>
            </a:pPr>
            <a:r>
              <a:rPr sz="2925" b="1">
                <a:solidFill>
                  <a:srgbClr val="14B8A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43680-A07C-4415-8D2D-2C792F4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DynamoDB over 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A7ADD-A806-457E-BF94-F57A142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Serverless key-value access by accession number; simple state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A6937-EA62-461D-90D1-B5CCE8F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7429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8AA50-CD9C-4766-B8C1-425EE57A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960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B8A6"/>
                </a:solidFill>
              </a:defRPr>
            </a:pPr>
            <a:r>
              <a:rPr sz="2925" b="1">
                <a:solidFill>
                  <a:srgbClr val="14B8A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ED3F9-709F-4316-A40A-95B7D9D7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19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S3 raw 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4E557-F876-4316-90B2-0862B83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8199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Durable, low-cost audit trail and replay potential.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4D892-7827-42ED-A880-28753424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0"/>
            <a:ext cx="7429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2DD3C-F329-4078-AFAA-DF0096E5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533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B8A6"/>
                </a:solidFill>
              </a:defRPr>
            </a:pPr>
            <a:r>
              <a:rPr sz="2925" b="1">
                <a:solidFill>
                  <a:srgbClr val="14B8A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AFB88-F0E0-4B8C-965C-F099A50F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77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Step 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022D3-E06B-4BA0-8454-FF9D63D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Visible workflow execution and easier debugging.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73C49-7BAC-4854-AB52-009AD639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686800"/>
            <a:ext cx="7429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ED4FD-CCAB-499E-852A-86EC7A0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106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B8A6"/>
                </a:solidFill>
              </a:defRPr>
            </a:pPr>
            <a:r>
              <a:rPr sz="2925" b="1">
                <a:solidFill>
                  <a:srgbClr val="14B8A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7CDAC-43EE-48B0-A4AB-321C2664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9344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No EC2 / no NAT 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2C42A-F14B-445C-A52C-C21298D2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3345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Lower operational overhead and cost for this serverless use case.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1B146-BAB1-4370-A60D-0FFE76E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944100"/>
            <a:ext cx="7429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6768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82514-2FC5-4E12-99BB-42182AD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2571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94232-BBB4-432E-81FC-A3B4B243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LESSONS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D4EB5-421A-4E53-B2DB-D6404A3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What this project 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656F-72C0-4F6F-87CA-71396768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442AB-817A-4D6C-80E4-B603A80C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2633A-951B-41BD-8809-554F431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5125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C"/>
                </a:solidFill>
              </a:defRPr>
            </a:pPr>
            <a:r>
              <a:rPr sz="2175" b="0">
                <a:solidFill>
                  <a:srgbClr val="F8FAFC"/>
                </a:solidFill>
              </a:rPr>
              <a:t>Event-driven design and async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F1495-85AB-47CE-AE2E-E568436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9A1C-66CC-4076-943E-B2F8C24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4712A-9D7F-4B8E-87C3-C746885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52875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C"/>
                </a:solidFill>
              </a:defRPr>
            </a:pPr>
            <a:r>
              <a:rPr sz="2175" b="0">
                <a:solidFill>
                  <a:srgbClr val="F8FAFC"/>
                </a:solidFill>
              </a:rPr>
              <a:t>Serverless AWS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8C532-40B5-4913-AC7D-7342D0B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7EEF4-9C02-41C0-B841-DC9991C9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9AC67-30B0-4846-9DC5-FA994092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C"/>
                </a:solidFill>
              </a:defRPr>
            </a:pPr>
            <a:r>
              <a:rPr sz="2175" b="0">
                <a:solidFill>
                  <a:srgbClr val="F8FAFC"/>
                </a:solidFill>
              </a:rPr>
              <a:t>Terraform state and partial-apply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B4F98-6A68-4B47-8E29-FC23760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FF360-C716-4E56-9EEB-9023DC0A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72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21C0A-EC89-4FD9-AC4C-356A2683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048375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C"/>
                </a:solidFill>
              </a:defRPr>
            </a:pPr>
            <a:r>
              <a:rPr sz="2175" b="0">
                <a:solidFill>
                  <a:srgbClr val="F8FAFC"/>
                </a:solidFill>
              </a:rPr>
              <a:t>Failure handling and observability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5F48C-4197-4465-BFC7-9839C08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AEF97-4B76-41F1-9B4C-D2DD731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19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9D2ED-607A-47BD-AD52-819881D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096125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C"/>
                </a:solidFill>
              </a:defRPr>
            </a:pPr>
            <a:r>
              <a:rPr sz="2175" b="0">
                <a:solidFill>
                  <a:srgbClr val="F8FAFC"/>
                </a:solidFill>
              </a:rPr>
              <a:t>Privacy-aware synthetic healthcare modeling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4BBE9-AC34-4250-A6FA-303F4D0B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0"/>
            <a:ext cx="8953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1B31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313DA-7A69-4804-BDA7-4E018A90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53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B5749-E8BA-48AD-BFE7-9CF4BE23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772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Synthetic data only. No PHI, no internal workplace data, no production compliance claims.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2986F-9925-41AF-B99E-655F4F12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887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631048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2026-06-18T02:05:09.5940000Z</dcterms:created>
  <dcterms:modified xsi:type="dcterms:W3CDTF">2026-06-18T02:05:09.5940000Z</dcterms:modified>
</coreProperties>
</file>